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e48a4795034a1f" /><Relationship Type="http://schemas.openxmlformats.org/officeDocument/2006/relationships/extended-properties" Target="/docProps/app.xml" Id="R3485e9e3c3174f5f" /><Relationship Type="http://schemas.openxmlformats.org/officeDocument/2006/relationships/officeDocument" Target="/ppt/presentation.xml" Id="Rb1d01c32e6844b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6d40ac6a294c2e"/>
  </p:sldMasterIdLst>
  <p:notesMasterIdLst>
    <p:notesMasterId xmlns:r="http://schemas.openxmlformats.org/officeDocument/2006/relationships" r:id="Rdc845e3f62074067"/>
  </p:notesMasterIdLst>
  <p:sldIdLst>
    <p:sldId xmlns:r="http://schemas.openxmlformats.org/officeDocument/2006/relationships" id="256" r:id="Rc5fe733f8db941b8"/>
    <p:sldId xmlns:r="http://schemas.openxmlformats.org/officeDocument/2006/relationships" id="257" r:id="R104f78582be843dd"/>
    <p:sldId xmlns:r="http://schemas.openxmlformats.org/officeDocument/2006/relationships" id="258" r:id="R06ed09b9b76d48f4"/>
    <p:sldId xmlns:r="http://schemas.openxmlformats.org/officeDocument/2006/relationships" id="259" r:id="Ra676601221ee4346"/>
    <p:sldId xmlns:r="http://schemas.openxmlformats.org/officeDocument/2006/relationships" id="260" r:id="Ra95199adaeca4118"/>
    <p:sldId xmlns:r="http://schemas.openxmlformats.org/officeDocument/2006/relationships" id="261" r:id="Rb751eac4d3004c77"/>
    <p:sldId xmlns:r="http://schemas.openxmlformats.org/officeDocument/2006/relationships" id="262" r:id="R03cfb8b93f814c77"/>
    <p:sldId xmlns:r="http://schemas.openxmlformats.org/officeDocument/2006/relationships" id="263" r:id="R08b34ba778b9472d"/>
    <p:sldId xmlns:r="http://schemas.openxmlformats.org/officeDocument/2006/relationships" id="264" r:id="Rb2cafd6cbd294286"/>
    <p:sldId xmlns:r="http://schemas.openxmlformats.org/officeDocument/2006/relationships" id="265" r:id="R281c133fc6534c5a"/>
    <p:sldId xmlns:r="http://schemas.openxmlformats.org/officeDocument/2006/relationships" id="266" r:id="Rbdbb0bbef80a4891"/>
    <p:sldId xmlns:r="http://schemas.openxmlformats.org/officeDocument/2006/relationships" id="267" r:id="Ra6e785e866a2449d"/>
    <p:sldId xmlns:r="http://schemas.openxmlformats.org/officeDocument/2006/relationships" id="268" r:id="R7381dc7ea49e449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ff8e1d985948e2" /><Relationship Type="http://schemas.openxmlformats.org/officeDocument/2006/relationships/slideMaster" Target="/ppt/slideMasters/slideMaster1.xml" Id="Ra76d40ac6a294c2e" /><Relationship Type="http://schemas.openxmlformats.org/officeDocument/2006/relationships/notesMaster" Target="/ppt/notesMasters/notesMaster1.xml" Id="Rdc845e3f62074067" /><Relationship Type="http://schemas.openxmlformats.org/officeDocument/2006/relationships/presProps" Target="/ppt/presProps.xml" Id="Rdf9ed1c49fc04923" /><Relationship Type="http://schemas.openxmlformats.org/officeDocument/2006/relationships/tableStyles" Target="/ppt/tableStyles.xml" Id="R5bf907a6f16b4d7d" /><Relationship Type="http://schemas.openxmlformats.org/officeDocument/2006/relationships/slide" Target="/ppt/slides/slide1.xml" Id="Rc5fe733f8db941b8" /><Relationship Type="http://schemas.openxmlformats.org/officeDocument/2006/relationships/slide" Target="/ppt/slides/slide2.xml" Id="R104f78582be843dd" /><Relationship Type="http://schemas.openxmlformats.org/officeDocument/2006/relationships/slide" Target="/ppt/slides/slide3.xml" Id="R06ed09b9b76d48f4" /><Relationship Type="http://schemas.openxmlformats.org/officeDocument/2006/relationships/slide" Target="/ppt/slides/slide4.xml" Id="Ra676601221ee4346" /><Relationship Type="http://schemas.openxmlformats.org/officeDocument/2006/relationships/slide" Target="/ppt/slides/slide5.xml" Id="Ra95199adaeca4118" /><Relationship Type="http://schemas.openxmlformats.org/officeDocument/2006/relationships/slide" Target="/ppt/slides/slide6.xml" Id="Rb751eac4d3004c77" /><Relationship Type="http://schemas.openxmlformats.org/officeDocument/2006/relationships/slide" Target="/ppt/slides/slide7.xml" Id="R03cfb8b93f814c77" /><Relationship Type="http://schemas.openxmlformats.org/officeDocument/2006/relationships/slide" Target="/ppt/slides/slide8.xml" Id="R08b34ba778b9472d" /><Relationship Type="http://schemas.openxmlformats.org/officeDocument/2006/relationships/slide" Target="/ppt/slides/slide9.xml" Id="Rb2cafd6cbd294286" /><Relationship Type="http://schemas.openxmlformats.org/officeDocument/2006/relationships/slide" Target="/ppt/slides/slide10.xml" Id="R281c133fc6534c5a" /><Relationship Type="http://schemas.openxmlformats.org/officeDocument/2006/relationships/slide" Target="/ppt/slides/slide11.xml" Id="Rbdbb0bbef80a4891" /><Relationship Type="http://schemas.openxmlformats.org/officeDocument/2006/relationships/slide" Target="/ppt/slides/slide12.xml" Id="Ra6e785e866a2449d" /><Relationship Type="http://schemas.openxmlformats.org/officeDocument/2006/relationships/slide" Target="/ppt/slides/slide13.xml" Id="R7381dc7ea49e44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693652412c44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e15d9b6a9a48e6" /><Relationship Type="http://schemas.openxmlformats.org/officeDocument/2006/relationships/notesMaster" Target="/ppt/notesMasters/notesMaster1.xml" Id="R6625def30d6a4b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f12327e08c4727" /><Relationship Type="http://schemas.openxmlformats.org/officeDocument/2006/relationships/notesMaster" Target="/ppt/notesMasters/notesMaster1.xml" Id="Reb91042c4bcc4a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49bb40f1a04bd6" /><Relationship Type="http://schemas.openxmlformats.org/officeDocument/2006/relationships/notesMaster" Target="/ppt/notesMasters/notesMaster1.xml" Id="Rfc7e13e887bc4c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1c9efcc25048fa" /><Relationship Type="http://schemas.openxmlformats.org/officeDocument/2006/relationships/notesMaster" Target="/ppt/notesMasters/notesMaster1.xml" Id="R820d9b3d36e64b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b42b30ae994ede" /><Relationship Type="http://schemas.openxmlformats.org/officeDocument/2006/relationships/notesMaster" Target="/ppt/notesMasters/notesMaster1.xml" Id="Refd44c44527a47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5f23b7b6c04cc4" /><Relationship Type="http://schemas.openxmlformats.org/officeDocument/2006/relationships/notesMaster" Target="/ppt/notesMasters/notesMaster1.xml" Id="R703277ffe8f544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4f941b7338477d" /><Relationship Type="http://schemas.openxmlformats.org/officeDocument/2006/relationships/notesMaster" Target="/ppt/notesMasters/notesMaster1.xml" Id="Rb707028236314b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e2ff374f894408" /><Relationship Type="http://schemas.openxmlformats.org/officeDocument/2006/relationships/notesMaster" Target="/ppt/notesMasters/notesMaster1.xml" Id="R61aef96f4ae348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c0c32ccf2d4546" /><Relationship Type="http://schemas.openxmlformats.org/officeDocument/2006/relationships/notesMaster" Target="/ppt/notesMasters/notesMaster1.xml" Id="Rf090c5507cc64b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249311dc5e4c7e" /><Relationship Type="http://schemas.openxmlformats.org/officeDocument/2006/relationships/notesMaster" Target="/ppt/notesMasters/notesMaster1.xml" Id="R775752d58e5445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b888b52def4bfb" /><Relationship Type="http://schemas.openxmlformats.org/officeDocument/2006/relationships/notesMaster" Target="/ppt/notesMasters/notesMaster1.xml" Id="R15b4ff332a10430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21414392ed54305" /><Relationship Type="http://schemas.openxmlformats.org/officeDocument/2006/relationships/notesMaster" Target="/ppt/notesMasters/notesMaster1.xml" Id="R193bff75701a4c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5453b2f8d234bc9" /><Relationship Type="http://schemas.openxmlformats.org/officeDocument/2006/relationships/notesMaster" Target="/ppt/notesMasters/notesMaster1.xml" Id="Rb830fdcbe86b41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fd634711c24c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834b76eaed46a8" /><Relationship Type="http://schemas.openxmlformats.org/officeDocument/2006/relationships/slideLayout" Target="/ppt/slideLayouts/slideLayout1.xml" Id="R0debae00f8d14e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ebae00f8d14e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764c525d441e6" /><Relationship Type="http://schemas.openxmlformats.org/officeDocument/2006/relationships/image" Target="/ppt/media/image.png" Id="Rbbea01d553a64c16" /><Relationship Type="http://schemas.openxmlformats.org/officeDocument/2006/relationships/image" Target="/ppt/media/image2.png" Id="Rba900f16594d4288" /><Relationship Type="http://schemas.openxmlformats.org/officeDocument/2006/relationships/image" Target="/ppt/media/image3.png" Id="R076fdf3f2d5e4e27" /><Relationship Type="http://schemas.openxmlformats.org/officeDocument/2006/relationships/image" Target="/ppt/media/image4.png" Id="R35e0df243e2949ba" /><Relationship Type="http://schemas.openxmlformats.org/officeDocument/2006/relationships/notesSlide" Target="/ppt/notesSlides/notesSlide1.xml" Id="R35bcb7386dd449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aa8f7b001497c" /><Relationship Type="http://schemas.openxmlformats.org/officeDocument/2006/relationships/image" Target="/ppt/media/image.jpeg" Id="R917788cc217f411b" /><Relationship Type="http://schemas.openxmlformats.org/officeDocument/2006/relationships/notesSlide" Target="/ppt/notesSlides/notesSlide2.xml" Id="R04e94bc35c6f42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a4f801a8c4376" /><Relationship Type="http://schemas.openxmlformats.org/officeDocument/2006/relationships/image" Target="/ppt/media/image5.png" Id="R51a3db342f3543d6" /><Relationship Type="http://schemas.openxmlformats.org/officeDocument/2006/relationships/image" Target="/ppt/media/image6.png" Id="Rbcd05d1d7bfa4938" /><Relationship Type="http://schemas.openxmlformats.org/officeDocument/2006/relationships/notesSlide" Target="/ppt/notesSlides/notesSlide3.xml" Id="R4468a5296af749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e2903235c44d8" /><Relationship Type="http://schemas.openxmlformats.org/officeDocument/2006/relationships/image" Target="/ppt/media/image7.png" Id="R69e6cb0975064e5c" /><Relationship Type="http://schemas.openxmlformats.org/officeDocument/2006/relationships/image" Target="/ppt/media/image8.png" Id="R2b0414b42ace4222" /><Relationship Type="http://schemas.openxmlformats.org/officeDocument/2006/relationships/image" Target="/ppt/media/image9.png" Id="Rf611e16fda8847e0" /><Relationship Type="http://schemas.openxmlformats.org/officeDocument/2006/relationships/notesSlide" Target="/ppt/notesSlides/notesSlide4.xml" Id="R84394000cc8a46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a5fc403b94dfd" /><Relationship Type="http://schemas.openxmlformats.org/officeDocument/2006/relationships/image" Target="/ppt/media/image10.png" Id="R915a9d6dde994bc7" /><Relationship Type="http://schemas.openxmlformats.org/officeDocument/2006/relationships/notesSlide" Target="/ppt/notesSlides/notesSlide5.xml" Id="R775ffb34df8543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220dccdb44579" /><Relationship Type="http://schemas.openxmlformats.org/officeDocument/2006/relationships/image" Target="/ppt/media/image11.png" Id="Rd12c334ad10d4bc3" /><Relationship Type="http://schemas.openxmlformats.org/officeDocument/2006/relationships/notesSlide" Target="/ppt/notesSlides/notesSlide6.xml" Id="R804bcf907baa4e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eed3d9dd64f9e" /><Relationship Type="http://schemas.openxmlformats.org/officeDocument/2006/relationships/image" Target="/ppt/media/image12.png" Id="Rf22258e13e7c483b" /><Relationship Type="http://schemas.openxmlformats.org/officeDocument/2006/relationships/image" Target="/ppt/media/image13.png" Id="R417f4c17680f4e6c" /><Relationship Type="http://schemas.openxmlformats.org/officeDocument/2006/relationships/notesSlide" Target="/ppt/notesSlides/notesSlide7.xml" Id="R334923325d1443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44d3004a84d80" /><Relationship Type="http://schemas.openxmlformats.org/officeDocument/2006/relationships/image" Target="/ppt/media/image14.png" Id="Rf7bd0b3023644c46" /><Relationship Type="http://schemas.openxmlformats.org/officeDocument/2006/relationships/notesSlide" Target="/ppt/notesSlides/notesSlide8.xml" Id="R366d94beda344f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64f0fef80042f0" /><Relationship Type="http://schemas.openxmlformats.org/officeDocument/2006/relationships/image" Target="/ppt/media/image15.png" Id="R5fa6d990a8ad4e36" /><Relationship Type="http://schemas.openxmlformats.org/officeDocument/2006/relationships/notesSlide" Target="/ppt/notesSlides/notesSlide9.xml" Id="R0300210a028340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de74e07c84bed" /><Relationship Type="http://schemas.openxmlformats.org/officeDocument/2006/relationships/image" Target="/ppt/media/image16.png" Id="Rb04192af3140404a" /><Relationship Type="http://schemas.openxmlformats.org/officeDocument/2006/relationships/image" Target="/ppt/media/image17.png" Id="Rba9f134319654c9f" /><Relationship Type="http://schemas.openxmlformats.org/officeDocument/2006/relationships/image" Target="/ppt/media/image18.png" Id="Ra398c7f324654c69" /><Relationship Type="http://schemas.openxmlformats.org/officeDocument/2006/relationships/image" Target="/ppt/media/image19.png" Id="R2005d6f0e1bf43b9" /><Relationship Type="http://schemas.openxmlformats.org/officeDocument/2006/relationships/image" Target="/ppt/media/image20.png" Id="Ra5a60fd54dde4f70" /><Relationship Type="http://schemas.openxmlformats.org/officeDocument/2006/relationships/notesSlide" Target="/ppt/notesSlides/notesSlide10.xml" Id="R9b41460348f049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a9ea177374078" /><Relationship Type="http://schemas.openxmlformats.org/officeDocument/2006/relationships/image" Target="/ppt/media/image21.png" Id="R811cdd4bd7424c43" /><Relationship Type="http://schemas.openxmlformats.org/officeDocument/2006/relationships/notesSlide" Target="/ppt/notesSlides/notesSlide11.xml" Id="R838fc42c396d47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e6d39b52e4ed3" /><Relationship Type="http://schemas.openxmlformats.org/officeDocument/2006/relationships/notesSlide" Target="/ppt/notesSlides/notesSlide12.xml" Id="R65665cb4533a48c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33e9a66634e63" /><Relationship Type="http://schemas.openxmlformats.org/officeDocument/2006/relationships/image" Target="/ppt/media/image22.png" Id="R62f1249612e84814" /><Relationship Type="http://schemas.openxmlformats.org/officeDocument/2006/relationships/image" Target="/ppt/media/image23.png" Id="R01e84b3d804e4ef5" /><Relationship Type="http://schemas.openxmlformats.org/officeDocument/2006/relationships/image" Target="/ppt/media/image24.png" Id="R5ddffa298d274e3f" /><Relationship Type="http://schemas.openxmlformats.org/officeDocument/2006/relationships/image" Target="/ppt/media/image25.png" Id="Rc124d1fa4ea94b54" /><Relationship Type="http://schemas.openxmlformats.org/officeDocument/2006/relationships/image" Target="/ppt/media/image26.png" Id="Rcda1712291964cb3" /><Relationship Type="http://schemas.openxmlformats.org/officeDocument/2006/relationships/notesSlide" Target="/ppt/notesSlides/notesSlide13.xml" Id="Rd9c0c4f48999473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a01d553a64c16"/>
          <a:srcRect xmlns:a="http://schemas.openxmlformats.org/drawingml/2006/main" l="0" t="12490" r="0" b="124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F2DC9-C603-4C18-A726-D2C21D8F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94837-DE43-4493-A31E-BDDE9377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709">
                  <a:alpha val="92000"/>
                </a:srgbClr>
              </a:gs>
              <a:gs pos="50000">
                <a:srgbClr val="050709">
                  <a:alpha val="35000"/>
                </a:srgbClr>
              </a:gs>
              <a:gs pos="100000">
                <a:srgbClr val="050709">
                  <a:alpha val="92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00f16594d4288"/>
          <a:srcRect xmlns:a="http://schemas.openxmlformats.org/drawingml/2006/main" l="0" t="8553" r="0" b="85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3850" y="2667000"/>
            <a:ext cx="3619500" cy="40005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6fdf3f2d5e4e27"/>
          <a:stretch xmlns:a="http://schemas.openxmlformats.org/drawingml/2006/main"/>
        </p:blipFill>
        <p:spPr>
          <a:xfrm xmlns:a="http://schemas.openxmlformats.org/drawingml/2006/main">
            <a:off x="9239250" y="2682875"/>
            <a:ext cx="2762250" cy="368300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e0df243e2949ba"/>
          <a:stretch xmlns:a="http://schemas.openxmlformats.org/drawingml/2006/main"/>
        </p:blipFill>
        <p:spPr>
          <a:xfrm xmlns:a="http://schemas.openxmlformats.org/drawingml/2006/main">
            <a:off x="2575392" y="514350"/>
            <a:ext cx="7041216" cy="40576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DB455-DC3E-4267-BA47-22A37256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00600"/>
            <a:ext cx="438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71B68A-E195-4D7F-9AC1-BD0AC9F8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00625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2C35B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F2C35B"/>
                </a:solidFill>
                <a:latin typeface="Courier New"/>
                <a:ea typeface="Courier New"/>
                <a:cs typeface="Courier New"/>
              </a:rPr>
              <a:t>REDDIT-NATIVE SOCIAL STRATEGY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4AF5A-D2D2-48E9-9C3B-AEBF5F24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483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9E8"/>
                </a:solidFill>
                <a:latin typeface="Arial"/>
                <a:ea typeface="Arial"/>
                <a:cs typeface="Arial"/>
              </a:rPr>
              <a:t>Публично говорите одно. Скрытно выбирайте другое.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9210F-8E3C-4E2D-904D-A40434F5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019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B8AA8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B8AA8B"/>
                </a:solidFill>
                <a:latin typeface="Courier New"/>
                <a:ea typeface="Courier New"/>
                <a:cs typeface="Courier New"/>
              </a:rPr>
              <a:t>One post • Two human armies • One AI that is listening</a:t>
            </a:r>
          </a:p>
        </p:txBody>
      </p:sp>
    </p:spTree>
    <p:extLst>
      <p:ext uri="{BB962C8B-B14F-4D97-AF65-F5344CB8AC3E}">
        <p14:creationId xmlns:p14="http://schemas.microsoft.com/office/powerpoint/2010/main" val="542922575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0A0D"/>
            </a:gs>
            <a:gs pos="100000">
              <a:srgbClr val="11181D"/>
            </a:gs>
          </a:gsLst>
          <a:lin ang="66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2">
            <a:extLst xmlns:a="http://schemas.openxmlformats.org/drawingml/2006/main">
              <a:ext uri="{FF2B5EF4-FFF2-40B4-BE49-F238E27FC236}">
                <a16:creationId xmlns:a16="http://schemas.microsoft.com/office/drawing/2014/main" id="{43D1FB48-60BD-488C-A665-E5A22998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2C35B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2C35B"/>
                </a:solidFill>
                <a:latin typeface="Courier New"/>
                <a:ea typeface="Courier New"/>
                <a:cs typeface="Courier New"/>
              </a:rPr>
              <a:t>THE HOOK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0FB5B362-B9C7-428A-B117-BE56916D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B8AA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B8AA8B"/>
                </a:solidFill>
                <a:latin typeface="Courier New"/>
                <a:ea typeface="Courier New"/>
                <a:cs typeface="Courier New"/>
              </a:rPr>
              <a:t>02 / 13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01E8B5-AA8E-4906-998D-2EDB787A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3429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9E8"/>
                </a:solidFill>
                <a:latin typeface="Arial"/>
                <a:ea typeface="Arial"/>
                <a:cs typeface="Arial"/>
              </a:rPr>
              <a:t>Здесь Reddit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9E8"/>
                </a:solidFill>
                <a:latin typeface="Arial"/>
                <a:ea typeface="Arial"/>
                <a:cs typeface="Arial"/>
              </a:rPr>
              <a:t>становится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9E8"/>
                </a:solidFill>
                <a:latin typeface="Arial"/>
                <a:ea typeface="Arial"/>
                <a:cs typeface="Arial"/>
              </a:rPr>
              <a:t>полем боя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5DB76-BDC7-43C9-B243-21CF5A78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7FA3F-46A3-40F8-8C19-B5370483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2C35B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2C35B"/>
                </a:solidFill>
                <a:latin typeface="Courier New"/>
                <a:ea typeface="Courier New"/>
                <a:cs typeface="Courier New"/>
              </a:rPr>
              <a:t>ПОСТ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A2F09-5F5D-46DE-AF48-350C3701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9E8"/>
                </a:solidFill>
                <a:latin typeface="Arial"/>
                <a:ea typeface="Arial"/>
                <a:cs typeface="Arial"/>
              </a:rPr>
              <a:t>ежедневная битва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5B6A2-4AAE-448A-A1C1-616991B6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18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2C35B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2C35B"/>
                </a:solidFill>
                <a:latin typeface="Courier New"/>
                <a:ea typeface="Courier New"/>
                <a:cs typeface="Courier New"/>
              </a:rPr>
              <a:t>КОММЕНТАРИИ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6F06FC-E831-4EE6-85FC-44B20A62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9E8"/>
                </a:solidFill>
                <a:latin typeface="Arial"/>
                <a:ea typeface="Arial"/>
                <a:cs typeface="Arial"/>
              </a:rPr>
              <a:t>открытые штабы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FE974-C7DC-4EAC-9E29-8D6BB8BB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576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2C35B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2C35B"/>
                </a:solidFill>
                <a:latin typeface="Courier New"/>
                <a:ea typeface="Courier New"/>
                <a:cs typeface="Courier New"/>
              </a:rPr>
              <a:t>СКРЫТЫЙ ПРИКАЗ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AE1EA5-E7D9-4D67-8033-21515420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24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9E8"/>
                </a:solidFill>
                <a:latin typeface="Arial"/>
                <a:ea typeface="Arial"/>
                <a:cs typeface="Arial"/>
              </a:rPr>
              <a:t>настоящий ход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AA409-B774-4AE6-8920-DA5D05CB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434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2C35B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2C35B"/>
                </a:solidFill>
                <a:latin typeface="Courier New"/>
                <a:ea typeface="Courier New"/>
                <a:cs typeface="Courier New"/>
              </a:rPr>
              <a:t>ОТЧЁТ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1F8DD8-C6A4-4731-9CDC-3BED6557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01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9E8"/>
                </a:solidFill>
                <a:latin typeface="Arial"/>
                <a:ea typeface="Arial"/>
                <a:cs typeface="Arial"/>
              </a:rPr>
              <a:t>последствие для всех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EB4F2-D85B-42B9-BD3E-54BFB2E8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6DDA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6DDA0"/>
                </a:solidFill>
                <a:latin typeface="Arial"/>
                <a:ea typeface="Arial"/>
                <a:cs typeface="Arial"/>
              </a:rPr>
              <a:t>Игровая механика использует то, что Reddit уже умеет лучше всего: публичное участие.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31865E-FCCE-4108-A90A-650EF4F3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28650"/>
            <a:ext cx="7296150" cy="5467350"/>
          </a:xfrm>
          <a:prstGeom xmlns:a="http://schemas.openxmlformats.org/drawingml/2006/main" prst="roundRect">
            <a:avLst>
              <a:gd name="adj" fmla="val 1394"/>
            </a:avLst>
          </a:prstGeom>
          <a:solidFill xmlns:a="http://schemas.openxmlformats.org/drawingml/2006/main">
            <a:srgbClr val="0E1317"/>
          </a:solidFill>
          <a:ln xmlns:a="http://schemas.openxmlformats.org/drawingml/2006/main" w="19050">
            <a:solidFill>
              <a:srgbClr val="F2C35B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7788cc217f411b"/>
          <a:srcRect xmlns:a="http://schemas.openxmlformats.org/drawingml/2006/main" l="11912" t="0" r="119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4850" y="781050"/>
            <a:ext cx="6991350" cy="5162550"/>
          </a:xfrm>
          <a:prstGeom xmlns:a="http://schemas.openxmlformats.org/drawingml/2006/main" prst="roundRect">
            <a:avLst>
              <a:gd name="adj" fmla="val 1845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E8C601-2CD6-4129-B99F-E7557B4B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657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2C35B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F2C35B"/>
                </a:solidFill>
                <a:latin typeface="Courier New"/>
                <a:ea typeface="Courier New"/>
                <a:cs typeface="Courier New"/>
              </a:rPr>
              <a:t>ТЕКУЩИЙ BUILT CLIENT / ONBOARDING</a:t>
            </a:r>
          </a:p>
        </p:txBody>
      </p:sp>
    </p:spTree>
    <p:extLst>
      <p:ext uri="{BB962C8B-B14F-4D97-AF65-F5344CB8AC3E}">
        <p14:creationId xmlns:p14="http://schemas.microsoft.com/office/powerpoint/2010/main" val="2082168206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118"/>
            </a:gs>
            <a:gs pos="47000">
              <a:srgbClr val="0A0C0F"/>
            </a:gs>
            <a:gs pos="100000">
              <a:srgbClr val="160E08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3">
            <a:extLst xmlns:a="http://schemas.openxmlformats.org/drawingml/2006/main">
              <a:ext uri="{FF2B5EF4-FFF2-40B4-BE49-F238E27FC236}">
                <a16:creationId xmlns:a16="http://schemas.microsoft.com/office/drawing/2014/main" id="{CDFD846D-85C2-4F68-87EB-84A03805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2C35B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2C35B"/>
                </a:solidFill>
                <a:latin typeface="Courier New"/>
                <a:ea typeface="Courier New"/>
                <a:cs typeface="Courier New"/>
              </a:rPr>
              <a:t>SOCIAL STRATEGY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7DD5D4D5-27BF-4C0F-925C-BBD7D07D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B8AA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B8AA8B"/>
                </a:solidFill>
                <a:latin typeface="Courier New"/>
                <a:ea typeface="Courier New"/>
                <a:cs typeface="Courier New"/>
              </a:rPr>
              <a:t>03 / 13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1687CC-E9CF-45D0-8436-8C48B559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450" b="1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9E8"/>
                </a:solidFill>
                <a:latin typeface="Arial"/>
                <a:ea typeface="Arial"/>
                <a:cs typeface="Arial"/>
              </a:rPr>
              <a:t>Главное оружие — разрыв между словами и приказом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3db342f3543d6"/>
          <a:srcRect xmlns:a="http://schemas.openxmlformats.org/drawingml/2006/main" l="9690" t="0" r="96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" y="1885950"/>
            <a:ext cx="2476500" cy="40957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05d1d7bfa4938"/>
          <a:srcRect xmlns:a="http://schemas.openxmlformats.org/drawingml/2006/main" l="9690" t="0" r="96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9620250" y="1885950"/>
            <a:ext cx="2476500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9C7E4-B4DB-4C25-B6B3-69A7570B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52600"/>
            <a:ext cx="30861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3"/>
          </a:solidFill>
          <a:ln xmlns:a="http://schemas.openxmlformats.org/drawingml/2006/main" w="19050">
            <a:solidFill>
              <a:srgbClr val="2DD4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93C7B-A25E-4E87-9E1C-96EDF756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57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DD4FF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2DD4FF"/>
                </a:solidFill>
                <a:latin typeface="Courier New"/>
                <a:ea typeface="Courier New"/>
                <a:cs typeface="Courier New"/>
              </a:rPr>
              <a:t>PUBLIC SIGNAL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F4DBC-A48E-47CB-AC3C-1755E826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76500"/>
            <a:ext cx="2724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100" b="1">
                <a:solidFill>
                  <a:srgbClr val="FFF9E8"/>
                </a:solidFill>
                <a:latin typeface="Courier New"/>
                <a:ea typeface="Courier New"/>
                <a:cs typeface="Courier New"/>
              </a:defRPr>
            </a:pPr>
            <a:r>
              <a:rPr sz="5100" b="1">
                <a:solidFill>
                  <a:srgbClr val="FFF9E8"/>
                </a:solidFill>
                <a:latin typeface="Courier New"/>
                <a:ea typeface="Courier New"/>
                <a:cs typeface="Courier New"/>
              </a:rPr>
              <a:t>HACK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E454A-509E-4FCF-8DB5-2C45F81E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671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F6DDA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6DDA0"/>
                </a:solidFill>
                <a:latin typeface="Arial"/>
                <a:ea typeface="Arial"/>
                <a:cs typeface="Arial"/>
              </a:rPr>
              <a:t>Комментарии видят обе армии и ИИ.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47F8DD-00C1-4C1D-ADF5-64D30276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30861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190D"/>
          </a:solidFill>
          <a:ln xmlns:a="http://schemas.openxmlformats.org/drawingml/2006/main" w="19050">
            <a:solidFill>
              <a:srgbClr val="F2C3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30F52F-A0D7-4037-B59F-54EDDDA7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57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2C35B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F2C35B"/>
                </a:solidFill>
                <a:latin typeface="Courier New"/>
                <a:ea typeface="Courier New"/>
                <a:cs typeface="Courier New"/>
              </a:rPr>
              <a:t>LOCKED ORDER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E5F959-4FCA-432D-A7AE-BD84F14D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2724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650" b="1">
                <a:solidFill>
                  <a:srgbClr val="FFF9E8"/>
                </a:solidFill>
                <a:latin typeface="Courier New"/>
                <a:ea typeface="Courier New"/>
                <a:cs typeface="Courier New"/>
              </a:defRPr>
            </a:pPr>
            <a:r>
              <a:rPr sz="4650" b="1">
                <a:solidFill>
                  <a:srgbClr val="FFF9E8"/>
                </a:solidFill>
                <a:latin typeface="Courier New"/>
                <a:ea typeface="Courier New"/>
                <a:cs typeface="Courier New"/>
              </a:rPr>
              <a:t>SHIELD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46BEE4-CAB3-4CE4-BAE0-11F68D06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671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F6DDA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6DDA0"/>
                </a:solidFill>
                <a:latin typeface="Arial"/>
                <a:ea typeface="Arial"/>
                <a:cs typeface="Arial"/>
              </a:rPr>
              <a:t>Приказ знает сервер — и он не меняется.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5DF314-3161-4F59-BD42-0571017B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4350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9E8"/>
                </a:solidFill>
                <a:latin typeface="Arial"/>
                <a:ea typeface="Arial"/>
                <a:cs typeface="Arial"/>
              </a:rPr>
              <a:t>Комментарии могут раскрыть план — или создать убедительный обман.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621452-E14E-4562-B291-651CE189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912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2C35B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F2C35B"/>
                </a:solidFill>
                <a:latin typeface="Courier New"/>
                <a:ea typeface="Courier New"/>
                <a:cs typeface="Courier New"/>
              </a:rPr>
              <a:t>PUBLIC SIGNAL ≠ HIDDEN DISTRIBUTION</a:t>
            </a:r>
          </a:p>
        </p:txBody>
      </p:sp>
    </p:spTree>
    <p:extLst>
      <p:ext uri="{BB962C8B-B14F-4D97-AF65-F5344CB8AC3E}">
        <p14:creationId xmlns:p14="http://schemas.microsoft.com/office/powerpoint/2010/main" val="20669026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6cb0975064e5c"/>
          <a:srcRect xmlns:a="http://schemas.openxmlformats.org/drawingml/2006/main" l="0" t="12490" r="0" b="124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80F9B-CF55-46AF-B0CB-7CF8B82A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4">
            <a:extLst xmlns:a="http://schemas.openxmlformats.org/drawingml/2006/main">
              <a:ext uri="{FF2B5EF4-FFF2-40B4-BE49-F238E27FC236}">
                <a16:creationId xmlns:a16="http://schemas.microsoft.com/office/drawing/2014/main" id="{602F2C6D-79A3-4E69-92F0-07A79FEC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2C35B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2C35B"/>
                </a:solidFill>
                <a:latin typeface="Courier New"/>
                <a:ea typeface="Courier New"/>
                <a:cs typeface="Courier New"/>
              </a:rPr>
              <a:t>DAILY RITUAL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3E4C1529-F840-4B1C-820E-E065051D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B8AA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B8AA8B"/>
                </a:solidFill>
                <a:latin typeface="Courier New"/>
                <a:ea typeface="Courier New"/>
                <a:cs typeface="Courier New"/>
              </a:rPr>
              <a:t>04 / 13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D410EF-75C4-4599-9F51-62DEFDCE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375" b="1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9E8"/>
                </a:solidFill>
                <a:latin typeface="Arial"/>
                <a:ea typeface="Arial"/>
                <a:cs typeface="Arial"/>
              </a:rPr>
              <a:t>Один день превращается в законченную военную историю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726B1-090B-41BD-9D26-98F39658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57550"/>
            <a:ext cx="984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C3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1C903E-EE72-4B37-9581-85CE4D9C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9622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61A"/>
          </a:solidFill>
          <a:ln xmlns:a="http://schemas.openxmlformats.org/drawingml/2006/main" w="28575">
            <a:solidFill>
              <a:srgbClr val="F2C3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A5803-A87E-4C18-A8F5-C9014303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03847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2C3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F2C35B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733D8-E8B2-431E-B8D2-70353AF5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9E8"/>
                </a:solidFill>
                <a:latin typeface="Arial"/>
                <a:ea typeface="Arial"/>
                <a:cs typeface="Arial"/>
              </a:rPr>
              <a:t>Вступить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C2543E-1BA0-40A8-8391-ACC8F792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574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F6DDA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DDA0"/>
                </a:solidFill>
                <a:latin typeface="Arial"/>
                <a:ea typeface="Arial"/>
                <a:cs typeface="Arial"/>
              </a:rPr>
              <a:t>Green или Blue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E8F6E0-4DBC-4715-B7D7-50AFD5CD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9622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61A"/>
          </a:solidFill>
          <a:ln xmlns:a="http://schemas.openxmlformats.org/drawingml/2006/main" w="28575">
            <a:solidFill>
              <a:srgbClr val="F2C3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BD9D97-A31B-46AA-8097-FB5681BB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03847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2C3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F2C35B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303AAC-F676-4056-86F5-7EB18C1C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79095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9E8"/>
                </a:solidFill>
                <a:latin typeface="Arial"/>
                <a:ea typeface="Arial"/>
                <a:cs typeface="Arial"/>
              </a:rPr>
              <a:t>Приказать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A0363F-461E-4131-8B4F-EC7C998E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005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F6DDA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DDA0"/>
                </a:solidFill>
                <a:latin typeface="Arial"/>
                <a:ea typeface="Arial"/>
                <a:cs typeface="Arial"/>
              </a:rPr>
              <a:t>7 доктрин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29F64D-958A-48AE-9EBE-DD6B11CA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622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61A"/>
          </a:solidFill>
          <a:ln xmlns:a="http://schemas.openxmlformats.org/drawingml/2006/main" w="28575">
            <a:solidFill>
              <a:srgbClr val="F2C3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781DC4-56F3-43AB-B43D-8A076330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3847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2C3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F2C35B"/>
                </a:solidFill>
                <a:latin typeface="Courier New"/>
                <a:ea typeface="Courier New"/>
                <a:cs typeface="Courier New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F7DBF1-9459-49B1-BC9A-BE2DC1BB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955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9E8"/>
                </a:solidFill>
                <a:latin typeface="Arial"/>
                <a:ea typeface="Arial"/>
                <a:cs typeface="Arial"/>
              </a:rPr>
              <a:t>Сигналить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894759-760B-47FE-9B21-A5BA41DE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574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F6DDA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DDA0"/>
                </a:solidFill>
                <a:latin typeface="Arial"/>
                <a:ea typeface="Arial"/>
                <a:cs typeface="Arial"/>
              </a:rPr>
              <a:t>правда или decoy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DE1D1E-F027-49C0-81D9-CE3DF4D9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9622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61A"/>
          </a:solidFill>
          <a:ln xmlns:a="http://schemas.openxmlformats.org/drawingml/2006/main" w="28575">
            <a:solidFill>
              <a:srgbClr val="F2C3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865203-1A1A-48EC-B2FD-ABBBC708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03847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2C3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F2C35B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B51480-E5B1-4170-AD6B-EDEBFDFC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9095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9E8"/>
                </a:solidFill>
                <a:latin typeface="Arial"/>
                <a:ea typeface="Arial"/>
                <a:cs typeface="Arial"/>
              </a:rPr>
              <a:t>Быть прочитанным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55B5B2-DAE6-43E5-B19E-052FDE24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005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F6DDA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DDA0"/>
                </a:solidFill>
                <a:latin typeface="Arial"/>
                <a:ea typeface="Arial"/>
                <a:cs typeface="Arial"/>
              </a:rPr>
              <a:t>AI Awareness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72298A-93D4-416F-AA6B-7BA522A5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9622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61A"/>
          </a:solidFill>
          <a:ln xmlns:a="http://schemas.openxmlformats.org/drawingml/2006/main" w="28575">
            <a:solidFill>
              <a:srgbClr val="F2C3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2FA456-EACD-41DD-9642-0CDED84E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03847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2C3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F2C35B"/>
                </a:solidFill>
                <a:latin typeface="Courier New"/>
                <a:ea typeface="Courier New"/>
                <a:cs typeface="Courier New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81D79C-1BD1-4BD6-A178-79DCB504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9E8"/>
                </a:solidFill>
                <a:latin typeface="Arial"/>
                <a:ea typeface="Arial"/>
                <a:cs typeface="Arial"/>
              </a:rPr>
              <a:t>Разрешить бой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D86F73-FD98-45B0-80A2-2954B7D1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F6DDA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DDA0"/>
                </a:solidFill>
                <a:latin typeface="Arial"/>
                <a:ea typeface="Arial"/>
                <a:cs typeface="Arial"/>
              </a:rPr>
              <a:t>Green / Blue / 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C30B69-1970-4B34-81BC-CED85038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29622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61A"/>
          </a:solidFill>
          <a:ln xmlns:a="http://schemas.openxmlformats.org/drawingml/2006/main" w="28575">
            <a:solidFill>
              <a:srgbClr val="F2C3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07A9BC-C068-4661-8D45-BA9AF3E7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303847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2C3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F2C35B"/>
                </a:solidFill>
                <a:latin typeface="Courier New"/>
                <a:ea typeface="Courier New"/>
                <a:cs typeface="Courier New"/>
              </a:rPr>
              <a:t>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F29D0A-0B9F-44ED-855C-6BE54DC8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79095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9E8"/>
                </a:solidFill>
                <a:latin typeface="Arial"/>
                <a:ea typeface="Arial"/>
                <a:cs typeface="Arial"/>
              </a:rPr>
              <a:t>Получить итог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A9F85D-6E88-440D-BBEF-3D039012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4005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F6DDA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DDA0"/>
                </a:solidFill>
                <a:latin typeface="Arial"/>
                <a:ea typeface="Arial"/>
                <a:cs typeface="Arial"/>
              </a:rPr>
              <a:t>территория + XP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A8E120-C08A-480E-8837-2B8A7631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911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9E8"/>
                </a:solidFill>
                <a:latin typeface="Arial"/>
                <a:ea typeface="Arial"/>
                <a:cs typeface="Arial"/>
              </a:rPr>
              <a:t>Короткая сессия. Коллективная история. Причина вернуться завтра.</a:t>
            </a:r>
          </a:p>
        </p:txBody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414b42ace4222"/>
          <a:stretch xmlns:a="http://schemas.openxmlformats.org/drawingml/2006/main"/>
        </p:blipFill>
        <p:spPr>
          <a:xfrm xmlns:a="http://schemas.openxmlformats.org/drawingml/2006/main">
            <a:off x="476250" y="5716081"/>
            <a:ext cx="609600" cy="607438"/>
          </a:xfrm>
          <a:prstGeom xmlns:a="http://schemas.openxmlformats.org/drawingml/2006/main" prst="rect">
            <a:avLst/>
          </a:prstGeom>
        </p:spPr>
      </p:pic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1e16fda8847e0"/>
          <a:stretch xmlns:a="http://schemas.openxmlformats.org/drawingml/2006/main"/>
        </p:blipFill>
        <p:spPr>
          <a:xfrm xmlns:a="http://schemas.openxmlformats.org/drawingml/2006/main">
            <a:off x="11106150" y="5716081"/>
            <a:ext cx="609600" cy="6074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1552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5">
            <a:extLst xmlns:a="http://schemas.openxmlformats.org/drawingml/2006/main">
              <a:ext uri="{FF2B5EF4-FFF2-40B4-BE49-F238E27FC236}">
                <a16:creationId xmlns:a16="http://schemas.microsoft.com/office/drawing/2014/main" id="{823908C3-D900-479B-85F8-C2B01D20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2C35B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2C35B"/>
                </a:solidFill>
                <a:latin typeface="Courier New"/>
                <a:ea typeface="Courier New"/>
                <a:cs typeface="Courier New"/>
              </a:rPr>
              <a:t>STRATEGIC DEPTH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945F2B0E-1483-4703-98B9-6265DFCC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B8AA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B8AA8B"/>
                </a:solidFill>
                <a:latin typeface="Courier New"/>
                <a:ea typeface="Courier New"/>
                <a:cs typeface="Courier New"/>
              </a:rPr>
              <a:t>05 / 13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49AEA4-B3F0-48DA-864F-69DC3C95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104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375" b="1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9E8"/>
                </a:solidFill>
                <a:latin typeface="Arial"/>
                <a:ea typeface="Arial"/>
                <a:cs typeface="Arial"/>
              </a:rPr>
              <a:t>Семь доктрин — честная основа для человеческой психологии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E96FA-5D87-41F6-AC77-312B50DB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7715250" cy="5048250"/>
          </a:xfrm>
          <a:prstGeom xmlns:a="http://schemas.openxmlformats.org/drawingml/2006/main" prst="roundRect">
            <a:avLst>
              <a:gd name="adj" fmla="val 1509"/>
            </a:avLst>
          </a:prstGeom>
          <a:solidFill xmlns:a="http://schemas.openxmlformats.org/drawingml/2006/main">
            <a:srgbClr val="081019"/>
          </a:solidFill>
          <a:ln xmlns:a="http://schemas.openxmlformats.org/drawingml/2006/main" w="19050">
            <a:solidFill>
              <a:srgbClr val="2DD4FF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5a9d6dde994bc7"/>
          <a:stretch xmlns:a="http://schemas.openxmlformats.org/drawingml/2006/main"/>
        </p:blipFill>
        <p:spPr>
          <a:xfrm xmlns:a="http://schemas.openxmlformats.org/drawingml/2006/main">
            <a:off x="595313" y="1504950"/>
            <a:ext cx="7286625" cy="4857750"/>
          </a:xfrm>
          <a:prstGeom xmlns:a="http://schemas.openxmlformats.org/drawingml/2006/main" prst="roundRect">
            <a:avLst>
              <a:gd name="adj" fmla="val 156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3A628-83E9-4FC3-AEF6-B3B69A4D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0" b="1">
                <a:solidFill>
                  <a:srgbClr val="F2C35B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2C35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1DBED-1CE3-4FD8-9F74-030AA75C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574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650" b="1">
                <a:solidFill>
                  <a:srgbClr val="F6DDA0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F6DDA0"/>
                </a:solidFill>
                <a:latin typeface="Courier New"/>
                <a:ea typeface="Courier New"/>
                <a:cs typeface="Courier New"/>
              </a:rPr>
              <a:t>ДОКТРИН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5C6DD1-5C4F-4BCB-9F92-1538FBB8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670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9E8"/>
                </a:solidFill>
                <a:latin typeface="Arial"/>
                <a:ea typeface="Arial"/>
                <a:cs typeface="Arial"/>
              </a:rPr>
              <a:t>Каждая побеждает три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9E8"/>
                </a:solidFill>
                <a:latin typeface="Arial"/>
                <a:ea typeface="Arial"/>
                <a:cs typeface="Arial"/>
              </a:rPr>
              <a:t>и проигрывает трём.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E02FC-C2B6-43CB-A968-A9D1B4C8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F6DDA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6DDA0"/>
                </a:solidFill>
                <a:latin typeface="Arial"/>
                <a:ea typeface="Arial"/>
                <a:cs typeface="Arial"/>
              </a:rPr>
              <a:t>Один скрытый приказ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F6DDA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6DDA0"/>
                </a:solidFill>
                <a:latin typeface="Arial"/>
                <a:ea typeface="Arial"/>
                <a:cs typeface="Arial"/>
              </a:rPr>
              <a:t>на ежедневный бой.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DCA74B-05FC-41BC-9F15-C3FCED14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14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F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9E37FC-785A-49B9-8BAE-1A577732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62550"/>
            <a:ext cx="295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9E8"/>
                </a:solidFill>
                <a:latin typeface="Arial"/>
                <a:ea typeface="Arial"/>
                <a:cs typeface="Arial"/>
              </a:rPr>
              <a:t>Доминирующая стратегия не зашита в правила — преимущество рождается из координации.</a:t>
            </a:r>
          </a:p>
        </p:txBody>
      </p:sp>
    </p:spTree>
    <p:extLst>
      <p:ext uri="{BB962C8B-B14F-4D97-AF65-F5344CB8AC3E}">
        <p14:creationId xmlns:p14="http://schemas.microsoft.com/office/powerpoint/2010/main" val="733127780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80A0D"/>
            </a:gs>
            <a:gs pos="62000">
              <a:srgbClr val="161014"/>
            </a:gs>
            <a:gs pos="100000">
              <a:srgbClr val="351013"/>
            </a:gs>
          </a:gsLst>
          <a:lin ang="63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6">
            <a:extLst xmlns:a="http://schemas.openxmlformats.org/drawingml/2006/main">
              <a:ext uri="{FF2B5EF4-FFF2-40B4-BE49-F238E27FC236}">
                <a16:creationId xmlns:a16="http://schemas.microsoft.com/office/drawing/2014/main" id="{6FE440DF-8393-4277-BD1E-193CD090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2C35B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2C35B"/>
                </a:solidFill>
                <a:latin typeface="Courier New"/>
                <a:ea typeface="Courier New"/>
                <a:cs typeface="Courier New"/>
              </a:rPr>
              <a:t>AI ANTAGONIST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2350BE3C-B0F9-4204-915F-8695FABD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B8AA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B8AA8B"/>
                </a:solidFill>
                <a:latin typeface="Courier New"/>
                <a:ea typeface="Courier New"/>
                <a:cs typeface="Courier New"/>
              </a:rPr>
              <a:t>06 / 13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43C19C-1C11-461D-9B05-D97677CF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742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450" b="1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9E8"/>
                </a:solidFill>
                <a:latin typeface="Arial"/>
                <a:ea typeface="Arial"/>
                <a:cs typeface="Arial"/>
              </a:rPr>
              <a:t>ИИ опасен, потому что читает людей — но может ошибаться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2c334ad10d4bc3"/>
          <a:stretch xmlns:a="http://schemas.openxmlformats.org/drawingml/2006/main"/>
        </p:blipFill>
        <p:spPr>
          <a:xfrm xmlns:a="http://schemas.openxmlformats.org/drawingml/2006/main">
            <a:off x="7924800" y="1397000"/>
            <a:ext cx="3619500" cy="4826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2C216-19D8-49DA-AC3D-4D48CD17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F4C4C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>
                <a:solidFill>
                  <a:srgbClr val="FF4C4C"/>
                </a:solidFill>
                <a:latin typeface="Courier New"/>
                <a:ea typeface="Courier New"/>
                <a:cs typeface="Courier New"/>
              </a:rPr>
              <a:t>AI AWARENESS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147D2-EAA2-41AC-8B54-862115F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F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669D1-11E5-4BAA-B86D-D0567D6A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286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C56CA-3773-4163-8A8A-08C3184E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86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A95D05-84EE-4426-9380-A3C28DCA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7DFF68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7DFF68"/>
                </a:solidFill>
                <a:latin typeface="Courier New"/>
                <a:ea typeface="Courier New"/>
                <a:cs typeface="Courier New"/>
              </a:rPr>
              <a:t>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F101F-3D14-4EE8-92A2-B299BBBC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71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2C35B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2C35B"/>
                </a:solidFill>
                <a:latin typeface="Courier New"/>
                <a:ea typeface="Courier New"/>
                <a:cs typeface="Courier New"/>
              </a:rPr>
              <a:t>READING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D9745-07EA-438F-ADC5-45DB3105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71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FF4C4C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F4C4C"/>
                </a:solidFill>
                <a:latin typeface="Courier New"/>
                <a:ea typeface="Courier New"/>
                <a:cs typeface="Courier New"/>
              </a:rPr>
              <a:t>COUNTER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E2334B-E4C1-49C8-BD3B-4C5ED63C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4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E4E8F0-99B0-4ECD-9768-9D7EE394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605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9E8"/>
                </a:solidFill>
                <a:latin typeface="Arial"/>
                <a:ea typeface="Arial"/>
                <a:cs typeface="Arial"/>
              </a:rPr>
              <a:t>Публичные утечки повышают осведомлённость.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A2D6CF-A695-40B8-9C29-1B034ACF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A56CBE-AEE1-404C-98A9-ECE87BC3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605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9E8"/>
                </a:solidFill>
                <a:latin typeface="Arial"/>
                <a:ea typeface="Arial"/>
                <a:cs typeface="Arial"/>
              </a:rPr>
              <a:t>Шум и deception снижают читаемость плана.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68A2CA-908E-47FD-99E4-FD3CCFD9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38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C95E6E-7BF5-44ED-B7F4-9DCC444A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6343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9E8"/>
                </a:solidFill>
                <a:latin typeface="Arial"/>
                <a:ea typeface="Arial"/>
                <a:cs typeface="Arial"/>
              </a:rPr>
              <a:t>Меняется шанс контрдоктрины — не гарантируется победа.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EB5B2C-4945-4C41-9B1D-010D229C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8AA8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B8AA8B"/>
                </a:solidFill>
                <a:latin typeface="Courier New"/>
                <a:ea typeface="Courier New"/>
                <a:cs typeface="Courier New"/>
              </a:rPr>
              <a:t>Исход считает детерминированный TypeScript resolver. LLM не выбирает победителя.</a:t>
            </a:r>
          </a:p>
        </p:txBody>
      </p:sp>
    </p:spTree>
    <p:extLst>
      <p:ext uri="{BB962C8B-B14F-4D97-AF65-F5344CB8AC3E}">
        <p14:creationId xmlns:p14="http://schemas.microsoft.com/office/powerpoint/2010/main" val="1013664745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0A08"/>
            </a:gs>
            <a:gs pos="58000">
              <a:srgbClr val="121711"/>
            </a:gs>
            <a:gs pos="100000">
              <a:srgbClr val="1A160D"/>
            </a:gs>
          </a:gsLst>
          <a:lin ang="66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7">
            <a:extLst xmlns:a="http://schemas.openxmlformats.org/drawingml/2006/main">
              <a:ext uri="{FF2B5EF4-FFF2-40B4-BE49-F238E27FC236}">
                <a16:creationId xmlns:a16="http://schemas.microsoft.com/office/drawing/2014/main" id="{EF16B23F-9600-4FA7-81FF-D4F3A003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2C35B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2C35B"/>
                </a:solidFill>
                <a:latin typeface="Courier New"/>
                <a:ea typeface="Courier New"/>
                <a:cs typeface="Courier New"/>
              </a:rPr>
              <a:t>COVERT LAYER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60F8C22A-653D-47B2-8083-3AFB7F4A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B8AA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B8AA8B"/>
                </a:solidFill>
                <a:latin typeface="Courier New"/>
                <a:ea typeface="Courier New"/>
                <a:cs typeface="Courier New"/>
              </a:rPr>
              <a:t>07 / 13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AA9C0A-CE04-4FDF-9608-091F54B1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685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525" b="1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9E8"/>
                </a:solidFill>
                <a:latin typeface="Arial"/>
                <a:ea typeface="Arial"/>
                <a:cs typeface="Arial"/>
              </a:rPr>
              <a:t>Шпион добавляет драму, не превращая игру в травлю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352E1-10C6-4FE6-BD2E-1BA5C4BD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F086D-9C11-42C3-9457-44C3233D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EFB71-3DE0-4B68-9BE2-5B8438BC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472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9E8"/>
                </a:solidFill>
                <a:latin typeface="Arial"/>
                <a:ea typeface="Arial"/>
                <a:cs typeface="Arial"/>
              </a:rPr>
              <a:t>Роль предлагается добровольно и на один бой.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E6DDF-170C-4F92-B587-2A213844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F9624-DA26-4451-A251-764EA424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472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9E8"/>
                </a:solidFill>
                <a:latin typeface="Arial"/>
                <a:ea typeface="Arial"/>
                <a:cs typeface="Arial"/>
              </a:rPr>
              <a:t>Закрытая цель и doctrine hint создают сомнение.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70BF2-3DA5-4B03-93D8-1763214A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F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2A42B8-1E68-43E9-9939-4534307E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472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9E8"/>
                </a:solidFill>
                <a:latin typeface="Arial"/>
                <a:ea typeface="Arial"/>
                <a:cs typeface="Arial"/>
              </a:rPr>
              <a:t>Влияние ограничено; имя игрока не раскрывается.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2686F6-693D-4F5B-B48C-92CE5CF2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2C35B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2C35B"/>
                </a:solidFill>
                <a:latin typeface="Courier New"/>
                <a:ea typeface="Courier New"/>
                <a:cs typeface="Courier New"/>
              </a:rPr>
              <a:t>СЕЙЧАС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CED02-9B83-40E6-9EE4-89923B36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9E8"/>
                </a:solidFill>
                <a:latin typeface="Arial"/>
                <a:ea typeface="Arial"/>
                <a:cs typeface="Arial"/>
              </a:rPr>
              <a:t>offer + hidden influence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281A50-D4AC-402B-8144-8B8B262E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B8AA8B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B8AA8B"/>
                </a:solidFill>
                <a:latin typeface="Courier New"/>
                <a:ea typeface="Courier New"/>
                <a:cs typeface="Courier New"/>
              </a:rPr>
              <a:t>ДАЛЕЕ: полноценный экран секретной миссии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258e13e7c483b"/>
          <a:stretch xmlns:a="http://schemas.openxmlformats.org/drawingml/2006/main"/>
        </p:blipFill>
        <p:spPr>
          <a:xfrm xmlns:a="http://schemas.openxmlformats.org/drawingml/2006/main">
            <a:off x="6678820" y="781050"/>
            <a:ext cx="4111210" cy="5810250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7f4c17680f4e6c"/>
          <a:srcRect xmlns:a="http://schemas.openxmlformats.org/drawingml/2006/main" l="958" t="0" r="9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29700" y="1485900"/>
            <a:ext cx="1219200" cy="16573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5C03F3-64CF-4BA2-BD4D-555FE2BC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372350" y="23812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0E12">
              <a:alpha val="88000"/>
            </a:srgbClr>
          </a:solidFill>
          <a:ln xmlns:a="http://schemas.openxmlformats.org/drawingml/2006/main" w="28575">
            <a:solidFill>
              <a:srgbClr val="FF4C4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4C4C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>
                <a:solidFill>
                  <a:srgbClr val="FF4C4C"/>
                </a:solidFill>
                <a:latin typeface="Courier New"/>
                <a:ea typeface="Courier New"/>
                <a:cs typeface="Courier New"/>
              </a:rPr>
              <a:t>CLASSIFIED</a:t>
            </a:r>
          </a:p>
        </p:txBody>
      </p:sp>
    </p:spTree>
    <p:extLst>
      <p:ext uri="{BB962C8B-B14F-4D97-AF65-F5344CB8AC3E}">
        <p14:creationId xmlns:p14="http://schemas.microsoft.com/office/powerpoint/2010/main" val="1341406127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0A0D"/>
            </a:gs>
            <a:gs pos="55000">
              <a:srgbClr val="0B1014"/>
            </a:gs>
            <a:gs pos="100000">
              <a:srgbClr val="17110B"/>
            </a:gs>
          </a:gsLst>
          <a:lin ang="66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8">
            <a:extLst xmlns:a="http://schemas.openxmlformats.org/drawingml/2006/main">
              <a:ext uri="{FF2B5EF4-FFF2-40B4-BE49-F238E27FC236}">
                <a16:creationId xmlns:a16="http://schemas.microsoft.com/office/drawing/2014/main" id="{4D6BD1E1-BC69-46F8-87E0-BA9A4F50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2C35B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2C35B"/>
                </a:solidFill>
                <a:latin typeface="Courier New"/>
                <a:ea typeface="Courier New"/>
                <a:cs typeface="Courier New"/>
              </a:rPr>
              <a:t>PERSISTENT STAKES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15DF792D-B854-4B1B-ACAE-C49A19F2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B8AA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B8AA8B"/>
                </a:solidFill>
                <a:latin typeface="Courier New"/>
                <a:ea typeface="Courier New"/>
                <a:cs typeface="Courier New"/>
              </a:rPr>
              <a:t>08 / 13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850CFC-F5EF-48AB-BC54-28F6CD75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525" b="1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9E8"/>
                </a:solidFill>
                <a:latin typeface="Arial"/>
                <a:ea typeface="Arial"/>
                <a:cs typeface="Arial"/>
              </a:rPr>
              <a:t>Каждый бой меняет владение одной из 12 территорий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C643A-912A-419B-BF35-B728DA5E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0" b="1">
                <a:solidFill>
                  <a:srgbClr val="F2C35B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2C35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AD3B5-05F7-41F4-B604-1CDF14FE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03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650" b="1">
                <a:solidFill>
                  <a:srgbClr val="F6DDA0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F6DDA0"/>
                </a:solidFill>
                <a:latin typeface="Courier New"/>
                <a:ea typeface="Courier New"/>
                <a:cs typeface="Courier New"/>
              </a:rPr>
              <a:t>ИМЕНОВАННЫХ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650" b="1">
                <a:solidFill>
                  <a:srgbClr val="F6DDA0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F6DDA0"/>
                </a:solidFill>
                <a:latin typeface="Courier New"/>
                <a:ea typeface="Courier New"/>
                <a:cs typeface="Courier New"/>
              </a:rPr>
              <a:t>ТЕРРИТОРИЙ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BAC394-0A25-4A61-ADED-F5D07E88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52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F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D35A3-F855-4FBD-99D0-5BBB8054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3867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9E8"/>
                </a:solidFill>
                <a:latin typeface="Arial"/>
                <a:ea typeface="Arial"/>
                <a:cs typeface="Arial"/>
              </a:rPr>
              <a:t>Один активный конфликт за бой.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E42CE-CB28-4523-8793-C3746C96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F468A-BC2D-475B-8D01-BBEBC9C4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4057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9E8"/>
                </a:solidFill>
                <a:latin typeface="Arial"/>
                <a:ea typeface="Arial"/>
                <a:cs typeface="Arial"/>
              </a:rPr>
              <a:t>Победитель меняет владельца в Redis.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4A3DF-A10B-4BB0-B817-97119019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86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8CBBC-4C02-4480-8E24-4812C2BC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4057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9E8"/>
                </a:solidFill>
                <a:latin typeface="Arial"/>
                <a:ea typeface="Arial"/>
                <a:cs typeface="Arial"/>
              </a:rPr>
              <a:t>Battle report фиксирует новую историю.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ECF9A6-31BF-41BF-9245-74026BAF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8AA8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B8AA8B"/>
                </a:solidFill>
                <a:latin typeface="Courier New"/>
                <a:ea typeface="Courier New"/>
                <a:cs typeface="Courier New"/>
              </a:rPr>
              <a:t>Интерактивная карта — следующий визуальный слой.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7CA8BE-D490-4E0B-ACEA-44302F7A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76375"/>
            <a:ext cx="657225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05080A"/>
          </a:solidFill>
          <a:ln xmlns:a="http://schemas.openxmlformats.org/drawingml/2006/main" w="19050">
            <a:solidFill>
              <a:srgbClr val="33434D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d0b3023644c46"/>
          <a:srcRect xmlns:a="http://schemas.openxmlformats.org/drawingml/2006/main" l="0" t="14462" r="0" b="144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1657350"/>
            <a:ext cx="6191250" cy="4400550"/>
          </a:xfrm>
          <a:prstGeom xmlns:a="http://schemas.openxmlformats.org/drawingml/2006/main" prst="roundRect">
            <a:avLst>
              <a:gd name="adj" fmla="val 1732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84A967-4C6C-4F59-B665-D725449C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7531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2C35B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F2C35B"/>
                </a:solidFill>
                <a:latin typeface="Courier New"/>
                <a:ea typeface="Courier New"/>
                <a:cs typeface="Courier New"/>
              </a:rPr>
              <a:t>BIOME TILESET / VISUAL DIRECTION</a:t>
            </a:r>
          </a:p>
        </p:txBody>
      </p:sp>
    </p:spTree>
    <p:extLst>
      <p:ext uri="{BB962C8B-B14F-4D97-AF65-F5344CB8AC3E}">
        <p14:creationId xmlns:p14="http://schemas.microsoft.com/office/powerpoint/2010/main" val="1482192214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8100B"/>
            </a:gs>
            <a:gs pos="52000">
              <a:srgbClr val="0A0C0F"/>
            </a:gs>
            <a:gs pos="100000">
              <a:srgbClr val="111223"/>
            </a:gs>
          </a:gsLst>
          <a:lin ang="60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9">
            <a:extLst xmlns:a="http://schemas.openxmlformats.org/drawingml/2006/main">
              <a:ext uri="{FF2B5EF4-FFF2-40B4-BE49-F238E27FC236}">
                <a16:creationId xmlns:a16="http://schemas.microsoft.com/office/drawing/2014/main" id="{1B581413-D45C-4B39-A1B1-4F4EFF30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2C35B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2C35B"/>
                </a:solidFill>
                <a:latin typeface="Courier New"/>
                <a:ea typeface="Courier New"/>
                <a:cs typeface="Courier New"/>
              </a:rPr>
              <a:t>IDENTITY &amp; RETENTION</a:t>
            </a:r>
          </a:p>
        </p:txBody>
      </p:sp>
      <p:sp>
        <p:nvSpPr>
          <p:cNvPr id="2" name="page-9">
            <a:extLst xmlns:a="http://schemas.openxmlformats.org/drawingml/2006/main">
              <a:ext uri="{FF2B5EF4-FFF2-40B4-BE49-F238E27FC236}">
                <a16:creationId xmlns:a16="http://schemas.microsoft.com/office/drawing/2014/main" id="{A3238517-94F4-418C-8B30-78AE0E34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B8AA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B8AA8B"/>
                </a:solidFill>
                <a:latin typeface="Courier New"/>
                <a:ea typeface="Courier New"/>
                <a:cs typeface="Courier New"/>
              </a:rPr>
              <a:t>09 / 13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42F643-5CDD-446C-93CC-D7231AF1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525" b="1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9E8"/>
                </a:solidFill>
                <a:latin typeface="Arial"/>
                <a:ea typeface="Arial"/>
                <a:cs typeface="Arial"/>
              </a:rPr>
              <a:t>Победа остаётся с игроком в ранге, flair и наградах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6D7BD-4441-433F-9B33-8FD685DF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0" b="1">
                <a:solidFill>
                  <a:srgbClr val="F2C35B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2C35B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B6F24-30FB-49B1-99D5-C550E47D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032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650" b="1">
                <a:solidFill>
                  <a:srgbClr val="F6DDA0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F6DDA0"/>
                </a:solidFill>
                <a:latin typeface="Courier New"/>
                <a:ea typeface="Courier New"/>
                <a:cs typeface="Courier New"/>
              </a:rPr>
              <a:t>РАНГОВ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45FA9-C958-4C09-998E-3D1EBFCF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5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F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1BC80-0101-465C-850D-8AF3CC91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4057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9E8"/>
                </a:solidFill>
                <a:latin typeface="Arial"/>
                <a:ea typeface="Arial"/>
                <a:cs typeface="Arial"/>
              </a:rPr>
              <a:t>XP начисляется и за участие, и за победу.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D0A2DC-D712-4D7C-8EC1-BA81D95F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92A5F3-9E70-4675-858F-49D1DD85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4057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9E8"/>
                </a:solidFill>
                <a:latin typeface="Arial"/>
                <a:ea typeface="Arial"/>
                <a:cs typeface="Arial"/>
              </a:rPr>
              <a:t>Streak делает ежедневный бой привычкой.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DAF2E-1642-4934-8F74-C2DC1BE0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6B6A2-D893-4D79-AE86-E746FD61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4248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9E8"/>
                </a:solidFill>
                <a:latin typeface="Arial"/>
                <a:ea typeface="Arial"/>
                <a:cs typeface="Arial"/>
              </a:rPr>
              <a:t>Reddit flair показывает армию, ранг и статус приказа.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91ADC8-7C98-46ED-92FE-5AE6A3A9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24000"/>
            <a:ext cx="6191250" cy="4686300"/>
          </a:xfrm>
          <a:prstGeom xmlns:a="http://schemas.openxmlformats.org/drawingml/2006/main" prst="roundRect">
            <a:avLst>
              <a:gd name="adj" fmla="val 1626"/>
            </a:avLst>
          </a:prstGeom>
          <a:solidFill xmlns:a="http://schemas.openxmlformats.org/drawingml/2006/main">
            <a:srgbClr val="080B0E"/>
          </a:solidFill>
          <a:ln xmlns:a="http://schemas.openxmlformats.org/drawingml/2006/main" w="19050">
            <a:solidFill>
              <a:srgbClr val="F2C35B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a6d990a8ad4e36"/>
          <a:stretch xmlns:a="http://schemas.openxmlformats.org/drawingml/2006/main"/>
        </p:blipFill>
        <p:spPr>
          <a:xfrm xmlns:a="http://schemas.openxmlformats.org/drawingml/2006/main">
            <a:off x="5699125" y="1809750"/>
            <a:ext cx="5461000" cy="4095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715B0C-7C39-4E59-96DF-52E3342C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91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F2C35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2C35B"/>
                </a:solidFill>
                <a:latin typeface="Courier New"/>
                <a:ea typeface="Courier New"/>
                <a:cs typeface="Courier New"/>
              </a:rPr>
              <a:t>48-LEVEL VISUAL LANGUAGE</a:t>
            </a:r>
          </a:p>
        </p:txBody>
      </p:sp>
    </p:spTree>
    <p:extLst>
      <p:ext uri="{BB962C8B-B14F-4D97-AF65-F5344CB8AC3E}">
        <p14:creationId xmlns:p14="http://schemas.microsoft.com/office/powerpoint/2010/main" val="726942073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50708"/>
            </a:gs>
            <a:gs pos="65000">
              <a:srgbClr val="101416"/>
            </a:gs>
            <a:gs pos="100000">
              <a:srgbClr val="17100A"/>
            </a:gs>
          </a:gsLst>
          <a:lin ang="60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0">
            <a:extLst xmlns:a="http://schemas.openxmlformats.org/drawingml/2006/main">
              <a:ext uri="{FF2B5EF4-FFF2-40B4-BE49-F238E27FC236}">
                <a16:creationId xmlns:a16="http://schemas.microsoft.com/office/drawing/2014/main" id="{BEAFF17C-CFC4-4476-8BD9-684AC3CD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2C35B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2C35B"/>
                </a:solidFill>
                <a:latin typeface="Courier New"/>
                <a:ea typeface="Courier New"/>
                <a:cs typeface="Courier New"/>
              </a:rPr>
              <a:t>VISUAL WORLD</a:t>
            </a:r>
          </a:p>
        </p:txBody>
      </p:sp>
      <p:sp>
        <p:nvSpPr>
          <p:cNvPr id="2" name="page-10">
            <a:extLst xmlns:a="http://schemas.openxmlformats.org/drawingml/2006/main">
              <a:ext uri="{FF2B5EF4-FFF2-40B4-BE49-F238E27FC236}">
                <a16:creationId xmlns:a16="http://schemas.microsoft.com/office/drawing/2014/main" id="{47E8BF71-37D5-479D-93DB-7C9D4CBA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B8AA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B8AA8B"/>
                </a:solidFill>
                <a:latin typeface="Courier New"/>
                <a:ea typeface="Courier New"/>
                <a:cs typeface="Courier New"/>
              </a:rPr>
              <a:t>10 / 13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D11D58-C388-4458-B6F8-6F0E232B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9048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525" b="1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9E8"/>
                </a:solidFill>
                <a:latin typeface="Arial"/>
                <a:ea typeface="Arial"/>
                <a:cs typeface="Arial"/>
              </a:rPr>
              <a:t>Пиксельная армия превращает участие в идентичность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3CB75-5EED-4434-B646-D4394B07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3338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6DDA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6DDA0"/>
                </a:solidFill>
                <a:latin typeface="Arial"/>
                <a:ea typeface="Arial"/>
                <a:cs typeface="Arial"/>
              </a:rPr>
              <a:t>Green и Blue считываются с первого взгляда.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6DDA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6DDA0"/>
                </a:solidFill>
                <a:latin typeface="Arial"/>
                <a:ea typeface="Arial"/>
                <a:cs typeface="Arial"/>
              </a:rPr>
              <a:t>Разные бойцы сохраняют человеческое лицо войны.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6DDA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6DDA0"/>
                </a:solidFill>
                <a:latin typeface="Arial"/>
                <a:ea typeface="Arial"/>
                <a:cs typeface="Arial"/>
              </a:rPr>
              <a:t>Военный юмор делает мир узнаваемым.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444E2-DBF3-4E80-B426-376E756E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35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192af3140404a"/>
          <a:srcRect xmlns:a="http://schemas.openxmlformats.org/drawingml/2006/main" l="0" t="24583" r="0" b="245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1390650"/>
            <a:ext cx="6096000" cy="2324100"/>
          </a:xfrm>
          <a:prstGeom xmlns:a="http://schemas.openxmlformats.org/drawingml/2006/main" prst="roundRect">
            <a:avLst>
              <a:gd name="adj" fmla="val 4098"/>
            </a:avLst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f134319654c9f"/>
          <a:srcRect xmlns:a="http://schemas.openxmlformats.org/drawingml/2006/main" l="0" t="7661" r="0" b="76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14500" y="3333750"/>
            <a:ext cx="2952750" cy="333375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98c7f324654c69"/>
          <a:srcRect xmlns:a="http://schemas.openxmlformats.org/drawingml/2006/main" l="0" t="7661" r="0" b="76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3333750"/>
            <a:ext cx="2952750" cy="333375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5d6f0e1bf43b9"/>
          <a:srcRect xmlns:a="http://schemas.openxmlformats.org/drawingml/2006/main" l="0" t="7661" r="0" b="76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3333750"/>
            <a:ext cx="2952750" cy="33337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a60fd54dde4f70"/>
          <a:stretch xmlns:a="http://schemas.openxmlformats.org/drawingml/2006/main"/>
        </p:blipFill>
        <p:spPr>
          <a:xfrm xmlns:a="http://schemas.openxmlformats.org/drawingml/2006/main">
            <a:off x="9914986" y="4324350"/>
            <a:ext cx="1410778" cy="142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966569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5080A"/>
            </a:gs>
            <a:gs pos="100000">
              <a:srgbClr val="07131A"/>
            </a:gs>
          </a:gsLst>
          <a:lin ang="66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1">
            <a:extLst xmlns:a="http://schemas.openxmlformats.org/drawingml/2006/main">
              <a:ext uri="{FF2B5EF4-FFF2-40B4-BE49-F238E27FC236}">
                <a16:creationId xmlns:a16="http://schemas.microsoft.com/office/drawing/2014/main" id="{7C28CD25-B12B-4248-88C4-C5D8F469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2C35B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2C35B"/>
                </a:solidFill>
                <a:latin typeface="Courier New"/>
                <a:ea typeface="Courier New"/>
                <a:cs typeface="Courier New"/>
              </a:rPr>
              <a:t>REDDIT-NATIVE RUNTIME</a:t>
            </a:r>
          </a:p>
        </p:txBody>
      </p:sp>
      <p:sp>
        <p:nvSpPr>
          <p:cNvPr id="2" name="page-11">
            <a:extLst xmlns:a="http://schemas.openxmlformats.org/drawingml/2006/main">
              <a:ext uri="{FF2B5EF4-FFF2-40B4-BE49-F238E27FC236}">
                <a16:creationId xmlns:a16="http://schemas.microsoft.com/office/drawing/2014/main" id="{16383BAA-D3A9-4068-8C4E-71C6E852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B8AA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B8AA8B"/>
                </a:solidFill>
                <a:latin typeface="Courier New"/>
                <a:ea typeface="Courier New"/>
                <a:cs typeface="Courier New"/>
              </a:rPr>
              <a:t>11 / 13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CE9937-4280-48B2-9608-3C187E1B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525" b="1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9E8"/>
                </a:solidFill>
                <a:latin typeface="Arial"/>
                <a:ea typeface="Arial"/>
                <a:cs typeface="Arial"/>
              </a:rPr>
              <a:t>Игра использует инфраструктуру Reddit как механику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1cdd4bd7424c43"/>
          <a:stretch xmlns:a="http://schemas.openxmlformats.org/drawingml/2006/main"/>
        </p:blipFill>
        <p:spPr>
          <a:xfrm xmlns:a="http://schemas.openxmlformats.org/drawingml/2006/main">
            <a:off x="590550" y="2336119"/>
            <a:ext cx="2000250" cy="199526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B022A-81B9-4767-9BB8-A5D2EF8C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F6DDA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6DDA0"/>
                </a:solidFill>
                <a:latin typeface="Arial"/>
                <a:ea typeface="Arial"/>
                <a:cs typeface="Arial"/>
              </a:rPr>
              <a:t>Не отдельная web-игра рядом с Reddit —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F6DDA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6DDA0"/>
                </a:solidFill>
                <a:latin typeface="Arial"/>
                <a:ea typeface="Arial"/>
                <a:cs typeface="Arial"/>
              </a:rPr>
              <a:t>а игра, собранная из его собственных социальных поверхностей.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0E4D2-2001-4956-B376-873EB4E3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4325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D4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80958-28C4-4EB1-898A-EF841EF5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14325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D4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5A14C-28AB-4554-BF86-96F1A6E3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4325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D4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B8CF2-AFF4-4621-A9B8-E0E3C6B0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71750"/>
            <a:ext cx="16383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820"/>
          </a:solidFill>
          <a:ln xmlns:a="http://schemas.openxmlformats.org/drawingml/2006/main" w="19050">
            <a:solidFill>
              <a:srgbClr val="2D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D0B944-1BDE-4EFF-9E6E-25528FEF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622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DD4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2DD4FF"/>
                </a:solidFill>
                <a:latin typeface="Courier New"/>
                <a:ea typeface="Courier New"/>
                <a:cs typeface="Courier New"/>
              </a:rPr>
              <a:t>CUSTOM POST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474524-AD74-4338-86FD-332E71F2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90875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9E8"/>
                </a:solidFill>
                <a:latin typeface="Arial"/>
                <a:ea typeface="Arial"/>
                <a:cs typeface="Arial"/>
              </a:rPr>
              <a:t>inline + expanded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1A4800-57BF-41EC-B9A1-E7D83E68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71750"/>
            <a:ext cx="16383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820"/>
          </a:solidFill>
          <a:ln xmlns:a="http://schemas.openxmlformats.org/drawingml/2006/main" w="19050">
            <a:solidFill>
              <a:srgbClr val="2D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92D3AD-329F-43F2-96F4-2B376EFA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7622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DD4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2DD4FF"/>
                </a:solidFill>
                <a:latin typeface="Courier New"/>
                <a:ea typeface="Courier New"/>
                <a:cs typeface="Courier New"/>
              </a:rPr>
              <a:t>PHASER / DOM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E48677-173D-43D9-B6A5-FB2B0D47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190875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9E8"/>
                </a:solidFill>
                <a:latin typeface="Arial"/>
                <a:ea typeface="Arial"/>
                <a:cs typeface="Arial"/>
              </a:rPr>
              <a:t>orders +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614E85-6939-45F5-8A8A-D87CAA1E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16383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820"/>
          </a:solidFill>
          <a:ln xmlns:a="http://schemas.openxmlformats.org/drawingml/2006/main" w="19050">
            <a:solidFill>
              <a:srgbClr val="2D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00E242-0406-40E7-8B9E-F95A7FDC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622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DD4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2DD4FF"/>
                </a:solidFill>
                <a:latin typeface="Courier New"/>
                <a:ea typeface="Courier New"/>
                <a:cs typeface="Courier New"/>
              </a:rPr>
              <a:t>DEVVIT SERVER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776204-3893-4F26-8695-772932F3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90875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9E8"/>
                </a:solidFill>
                <a:latin typeface="Arial"/>
                <a:ea typeface="Arial"/>
                <a:cs typeface="Arial"/>
              </a:rPr>
              <a:t>Hono + TypeScript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4D1E53-EB1A-4F1D-B742-D0D76CCA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71750"/>
            <a:ext cx="16383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820"/>
          </a:solidFill>
          <a:ln xmlns:a="http://schemas.openxmlformats.org/drawingml/2006/main" w="19050">
            <a:solidFill>
              <a:srgbClr val="2D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293D68-D637-42FA-961A-07A2B194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7622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DD4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2DD4FF"/>
                </a:solidFill>
                <a:latin typeface="Courier New"/>
                <a:ea typeface="Courier New"/>
                <a:cs typeface="Courier New"/>
              </a:rPr>
              <a:t>REDDIT + REDIS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CBE554-3346-4187-9F0C-0630A8AE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190875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9E8"/>
                </a:solidFill>
                <a:latin typeface="Arial"/>
                <a:ea typeface="Arial"/>
                <a:cs typeface="Arial"/>
              </a:rPr>
              <a:t>comments + scheduler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361F99-2C23-4D70-9E78-7158A11A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672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2C35B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2C35B"/>
                </a:solidFill>
                <a:latin typeface="Courier New"/>
                <a:ea typeface="Courier New"/>
                <a:cs typeface="Courier New"/>
              </a:rPr>
              <a:t>ORDERS  •  COMMENTS  •  AI AWARENESS  •  RESOLVER  •  TERRITORIES  •  REPORTS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7BA1A3-DB77-4542-AE86-BB5C95B9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482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9E8"/>
                </a:solidFill>
                <a:latin typeface="Arial"/>
                <a:ea typeface="Arial"/>
                <a:cs typeface="Arial"/>
              </a:rPr>
              <a:t>Devvit Web  /  Phaser  /  Hono  /  Redis  /  TypeScript</a:t>
            </a:r>
          </a:p>
        </p:txBody>
      </p:sp>
    </p:spTree>
    <p:extLst>
      <p:ext uri="{BB962C8B-B14F-4D97-AF65-F5344CB8AC3E}">
        <p14:creationId xmlns:p14="http://schemas.microsoft.com/office/powerpoint/2010/main" val="17466707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0A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2">
            <a:extLst xmlns:a="http://schemas.openxmlformats.org/drawingml/2006/main">
              <a:ext uri="{FF2B5EF4-FFF2-40B4-BE49-F238E27FC236}">
                <a16:creationId xmlns:a16="http://schemas.microsoft.com/office/drawing/2014/main" id="{C75D493D-C23D-4C89-8178-EF595D85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2C35B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2C35B"/>
                </a:solidFill>
                <a:latin typeface="Courier New"/>
                <a:ea typeface="Courier New"/>
                <a:cs typeface="Courier New"/>
              </a:rPr>
              <a:t>CURRENT MILESTONE</a:t>
            </a:r>
          </a:p>
        </p:txBody>
      </p:sp>
      <p:sp>
        <p:nvSpPr>
          <p:cNvPr id="2" name="page-12">
            <a:extLst xmlns:a="http://schemas.openxmlformats.org/drawingml/2006/main">
              <a:ext uri="{FF2B5EF4-FFF2-40B4-BE49-F238E27FC236}">
                <a16:creationId xmlns:a16="http://schemas.microsoft.com/office/drawing/2014/main" id="{F2F64E42-28F8-40ED-BC63-DBB893B9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B8AA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B8AA8B"/>
                </a:solidFill>
                <a:latin typeface="Courier New"/>
                <a:ea typeface="Courier New"/>
                <a:cs typeface="Courier New"/>
              </a:rPr>
              <a:t>12 / 13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FF4024-FB8B-4A29-A7B2-241A6468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1104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375" b="1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9E8"/>
                </a:solidFill>
                <a:latin typeface="Arial"/>
                <a:ea typeface="Arial"/>
                <a:cs typeface="Arial"/>
              </a:rPr>
              <a:t>Игровой backbone уже собран; следующий шаг — production polish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A0AC4-D148-44BB-ABC5-FD48C589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5238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810"/>
          </a:solidFill>
          <a:ln xmlns:a="http://schemas.openxmlformats.org/drawingml/2006/main" w="19050">
            <a:solidFill>
              <a:srgbClr val="7DFF6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77F35-64FD-4769-9C86-0DB8B403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5238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0A"/>
          </a:solidFill>
          <a:ln xmlns:a="http://schemas.openxmlformats.org/drawingml/2006/main" w="19050">
            <a:solidFill>
              <a:srgbClr val="F2C3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4FE92-59F1-4A88-B6E6-77FDE7DC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7DFF68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7DFF68"/>
                </a:solidFill>
                <a:latin typeface="Courier New"/>
                <a:ea typeface="Courier New"/>
                <a:cs typeface="Courier New"/>
              </a:rPr>
              <a:t>WIRED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5F8D4-9CE0-42CA-8FA2-8AD1A0D4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431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2C3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F2C35B"/>
                </a:solidFill>
                <a:latin typeface="Courier New"/>
                <a:ea typeface="Courier New"/>
                <a:cs typeface="Courier New"/>
              </a:rPr>
              <a:t>FINAL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15A3B-5B83-426E-8147-0F09B07D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7DFF6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DFF68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45725-284B-4690-B6E4-B17AF6EA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62225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9E8"/>
                </a:solidFill>
                <a:latin typeface="Arial"/>
                <a:ea typeface="Arial"/>
                <a:cs typeface="Arial"/>
              </a:rPr>
              <a:t>Daily post + Green / Blue join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5CC77C-9D2D-47CD-BAF3-CC63600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7DFF6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DFF68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E2B0A-1F0C-4E26-8E5A-3E2DB406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52775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9E8"/>
                </a:solidFill>
                <a:latin typeface="Arial"/>
                <a:ea typeface="Arial"/>
                <a:cs typeface="Arial"/>
              </a:rPr>
              <a:t>7 doctrines + locked hidden order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DDBCEA-4E28-44EB-A4DA-1B8A3BB3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7DFF6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DFF68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16FA98-0CAA-46AE-BBCA-54CD8B3B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43325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9E8"/>
                </a:solidFill>
                <a:latin typeface="Arial"/>
                <a:ea typeface="Arial"/>
                <a:cs typeface="Arial"/>
              </a:rPr>
              <a:t>Comment signals + AI counterplay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054B93-C1EC-423D-8F1A-CFA381DD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7DFF6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DFF68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282204-FDFC-4984-B195-657CB0B1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33875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9E8"/>
                </a:solidFill>
                <a:latin typeface="Arial"/>
                <a:ea typeface="Arial"/>
                <a:cs typeface="Arial"/>
              </a:rPr>
              <a:t>Resolver + territory owner + report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22CEF3-ABBB-4014-823D-CF46B709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7DFF6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DFF68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026F44-B4DC-40EB-8598-30A44291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24425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9E8"/>
                </a:solidFill>
                <a:latin typeface="Arial"/>
                <a:ea typeface="Arial"/>
                <a:cs typeface="Arial"/>
              </a:rPr>
              <a:t>XP + rank + streak + Reddit flair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06A63D-78E6-425B-B6B8-1E53025B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52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2C3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2C35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EF25CF-89BD-43AC-A96D-2C9547EC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62225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9E8"/>
                </a:solidFill>
                <a:latin typeface="Arial"/>
                <a:ea typeface="Arial"/>
                <a:cs typeface="Arial"/>
              </a:rPr>
              <a:t>Spy accept / refuse mission UI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C6076A-5DCA-4520-BBEE-4C053B0D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2C3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2C35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FC7102-B091-404C-9F86-53F3AF80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52775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9E8"/>
                </a:solidFill>
                <a:latin typeface="Arial"/>
                <a:ea typeface="Arial"/>
                <a:cs typeface="Arial"/>
              </a:rPr>
              <a:t>Interactive map and player profile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AC725B-956B-40C0-AC33-FC6C1BBA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33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2C3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2C35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4B1F4E-FEE9-413B-9097-4F169543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43325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9E8"/>
                </a:solidFill>
                <a:latin typeface="Arial"/>
                <a:ea typeface="Arial"/>
                <a:cs typeface="Arial"/>
              </a:rPr>
              <a:t>Individual reward hardening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731E94-24A6-45A1-9DA8-14B6656F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24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2C3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2C35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4A7B59-DAAB-4F30-8708-925C917B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33875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9E8"/>
                </a:solidFill>
                <a:latin typeface="Arial"/>
                <a:ea typeface="Arial"/>
                <a:cs typeface="Arial"/>
              </a:rPr>
              <a:t>Production-clean demo path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2032DC-A48F-4BE5-A830-D8B3BA20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149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2C3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2C35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CBF7D9-86FE-4A9E-908E-20139205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24425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9E8"/>
                </a:solidFill>
                <a:latin typeface="Arial"/>
                <a:ea typeface="Arial"/>
                <a:cs typeface="Arial"/>
              </a:rPr>
              <a:t>Live test-subreddit walkthrough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5D2760-C7E7-416B-9797-F2A6D28C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4360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B8AA8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B8AA8B"/>
                </a:solidFill>
                <a:latin typeface="Courier New"/>
                <a:ea typeface="Courier New"/>
                <a:cs typeface="Courier New"/>
              </a:rPr>
              <a:t>Подтверждено текущим исходным кодом. Live public demo требует отдельного runtime-proof.</a:t>
            </a:r>
          </a:p>
        </p:txBody>
      </p:sp>
    </p:spTree>
    <p:extLst>
      <p:ext uri="{BB962C8B-B14F-4D97-AF65-F5344CB8AC3E}">
        <p14:creationId xmlns:p14="http://schemas.microsoft.com/office/powerpoint/2010/main" val="151545937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f1249612e84814"/>
          <a:srcRect xmlns:a="http://schemas.openxmlformats.org/drawingml/2006/main" l="0" t="12490" r="0" b="124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D302A-06D6-4CEA-960A-4A4A2810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6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D97E2-047E-4709-9ACC-98FB70CF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0B">
                  <a:alpha val="90000"/>
                </a:srgbClr>
              </a:gs>
              <a:gs pos="50000">
                <a:srgbClr val="050709">
                  <a:alpha val="35000"/>
                </a:srgbClr>
              </a:gs>
              <a:gs pos="100000">
                <a:srgbClr val="0B1020">
                  <a:alpha val="90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84b3d804e4ef5"/>
          <a:srcRect xmlns:a="http://schemas.openxmlformats.org/drawingml/2006/main" l="725" t="0" r="7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6700" y="2428875"/>
            <a:ext cx="3238500" cy="43815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dffa298d274e3f"/>
          <a:srcRect xmlns:a="http://schemas.openxmlformats.org/drawingml/2006/main" l="725" t="0" r="7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9220200" y="2428875"/>
            <a:ext cx="3238500" cy="43815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4d1fa4ea94b54"/>
          <a:stretch xmlns:a="http://schemas.openxmlformats.org/drawingml/2006/main"/>
        </p:blipFill>
        <p:spPr>
          <a:xfrm xmlns:a="http://schemas.openxmlformats.org/drawingml/2006/main">
            <a:off x="5238750" y="2695575"/>
            <a:ext cx="1714500" cy="22860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a1712291964cb3"/>
          <a:stretch xmlns:a="http://schemas.openxmlformats.org/drawingml/2006/main"/>
        </p:blipFill>
        <p:spPr>
          <a:xfrm xmlns:a="http://schemas.openxmlformats.org/drawingml/2006/main">
            <a:off x="2859244" y="266700"/>
            <a:ext cx="6473513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604B8-46BB-4981-9747-08A01516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29000"/>
            <a:ext cx="8001000" cy="25527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000000">
              <a:alpha val="62000"/>
            </a:srgbClr>
          </a:solidFill>
          <a:ln xmlns:a="http://schemas.openxmlformats.org/drawingml/2006/main" w="9525">
            <a:solidFill>
              <a:srgbClr val="F2C35B">
                <a:alpha val="2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A85F5-3217-44F9-B09A-98D56D04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95700"/>
            <a:ext cx="7429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150" b="1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9E8"/>
                </a:solidFill>
                <a:latin typeface="Arial"/>
                <a:ea typeface="Arial"/>
                <a:cs typeface="Arial"/>
              </a:rPr>
              <a:t>Reddit уже собрал аудиторию.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3150" b="1">
                <a:solidFill>
                  <a:srgbClr val="FFF9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9E8"/>
                </a:solidFill>
                <a:latin typeface="Arial"/>
                <a:ea typeface="Arial"/>
                <a:cs typeface="Arial"/>
              </a:rPr>
              <a:t>Мы превращаем её участие в войну.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C991CD-16E7-44D6-8BD1-F6D9EA12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361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8C9E03-1498-4F47-9E2A-CEA620D3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95875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6DDA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6DDA0"/>
                </a:solidFill>
                <a:latin typeface="Arial"/>
                <a:ea typeface="Arial"/>
                <a:cs typeface="Arial"/>
              </a:rPr>
              <a:t>Говорите публично. Приказывайте скрытно.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6DDA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6DDA0"/>
                </a:solidFill>
                <a:latin typeface="Arial"/>
                <a:ea typeface="Arial"/>
                <a:cs typeface="Arial"/>
              </a:rPr>
              <a:t>Посмотрим, прочитает ли вас ИИ.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CA9DA3-AB44-435D-A1A1-22502496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1912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2C35B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2C35B"/>
                </a:solidFill>
                <a:latin typeface="Courier New"/>
                <a:ea typeface="Courier New"/>
                <a:cs typeface="Courier New"/>
              </a:rPr>
              <a:t>ONE POST  •  TWO HUMAN ARMIES  •  ONE AI THAT IS LISTENING</a:t>
            </a:r>
          </a:p>
        </p:txBody>
      </p:sp>
    </p:spTree>
    <p:extLst>
      <p:ext uri="{BB962C8B-B14F-4D97-AF65-F5344CB8AC3E}">
        <p14:creationId xmlns:p14="http://schemas.microsoft.com/office/powerpoint/2010/main" val="1521160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2026-07-10T16:54:39.8970000Z</dcterms:created>
  <dcterms:modified xsi:type="dcterms:W3CDTF">2026-07-10T16:54:39.8970000Z</dcterms:modified>
</coreProperties>
</file>